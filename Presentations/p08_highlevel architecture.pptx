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rasika" charset="1" panose="00000000000000000000"/>
      <p:regular r:id="rId11"/>
    </p:embeddedFont>
    <p:embeddedFont>
      <p:font typeface="Roboto Bold" charset="1" panose="02000000000000000000"/>
      <p:regular r:id="rId12"/>
    </p:embeddedFont>
    <p:embeddedFont>
      <p:font typeface="Roboto" charset="1" panose="02000000000000000000"/>
      <p:regular r:id="rId13"/>
    </p:embeddedFont>
    <p:embeddedFont>
      <p:font typeface="Times New Roman MT Bold" charset="1" panose="02030802070405020303"/>
      <p:regular r:id="rId14"/>
    </p:embeddedFont>
    <p:embeddedFont>
      <p:font typeface="Times New Roman MT" charset="1" panose="020305020704050203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https://sproj-p08-p580fwf0n-zarakqadirkhans-projects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354286" cy="4114800"/>
          </a:xfrm>
          <a:custGeom>
            <a:avLst/>
            <a:gdLst/>
            <a:ahLst/>
            <a:cxnLst/>
            <a:rect r="r" b="b" t="t" l="l"/>
            <a:pathLst>
              <a:path h="4114800" w="4354286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933714" y="6172200"/>
            <a:ext cx="4354286" cy="4114800"/>
          </a:xfrm>
          <a:custGeom>
            <a:avLst/>
            <a:gdLst/>
            <a:ahLst/>
            <a:cxnLst/>
            <a:rect r="r" b="b" t="t" l="l"/>
            <a:pathLst>
              <a:path h="4114800" w="4354286">
                <a:moveTo>
                  <a:pt x="4354286" y="0"/>
                </a:moveTo>
                <a:lnTo>
                  <a:pt x="0" y="0"/>
                </a:lnTo>
                <a:lnTo>
                  <a:pt x="0" y="4114800"/>
                </a:lnTo>
                <a:lnTo>
                  <a:pt x="4354286" y="4114800"/>
                </a:lnTo>
                <a:lnTo>
                  <a:pt x="43542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65137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0" y="4114800"/>
                </a:moveTo>
                <a:lnTo>
                  <a:pt x="3343275" y="4114800"/>
                </a:lnTo>
                <a:lnTo>
                  <a:pt x="334327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09862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33432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343276" y="0"/>
                </a:lnTo>
                <a:lnTo>
                  <a:pt x="3343276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85977" y="3911950"/>
            <a:ext cx="12623885" cy="179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P08: AGRIQ</a:t>
            </a:r>
            <a:r>
              <a:rPr lang="en-US" sz="9999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48303" y="5756275"/>
            <a:ext cx="9899234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HIGH LEVEL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65137" y="-835817"/>
            <a:ext cx="3096527" cy="3811110"/>
          </a:xfrm>
          <a:custGeom>
            <a:avLst/>
            <a:gdLst/>
            <a:ahLst/>
            <a:cxnLst/>
            <a:rect r="r" b="b" t="t" l="l"/>
            <a:pathLst>
              <a:path h="3811110" w="3096527">
                <a:moveTo>
                  <a:pt x="0" y="3811109"/>
                </a:moveTo>
                <a:lnTo>
                  <a:pt x="3096526" y="3811109"/>
                </a:lnTo>
                <a:lnTo>
                  <a:pt x="3096526" y="0"/>
                </a:lnTo>
                <a:lnTo>
                  <a:pt x="0" y="0"/>
                </a:lnTo>
                <a:lnTo>
                  <a:pt x="0" y="38111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26216"/>
            <a:ext cx="9144000" cy="10034568"/>
          </a:xfrm>
          <a:custGeom>
            <a:avLst/>
            <a:gdLst/>
            <a:ahLst/>
            <a:cxnLst/>
            <a:rect r="r" b="b" t="t" l="l"/>
            <a:pathLst>
              <a:path h="10034568" w="9144000">
                <a:moveTo>
                  <a:pt x="0" y="0"/>
                </a:moveTo>
                <a:lnTo>
                  <a:pt x="9144000" y="0"/>
                </a:lnTo>
                <a:lnTo>
                  <a:pt x="9144000" y="10034568"/>
                </a:lnTo>
                <a:lnTo>
                  <a:pt x="0" y="10034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80081" y="241737"/>
            <a:ext cx="2135919" cy="3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10823" y="1340234"/>
            <a:ext cx="2353819" cy="7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BACKEND/API </a:t>
            </a:r>
          </a:p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LAYER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85078" y="3145159"/>
            <a:ext cx="2632326" cy="3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CORE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03895" y="7563396"/>
            <a:ext cx="1572599" cy="3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STORAGE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314" y="914400"/>
            <a:ext cx="7915686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ARCHITECTURE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3126" y="1691541"/>
            <a:ext cx="7679413" cy="823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Operations Layer: 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Monitoring and Logging, CI/CD Pipeline, Event Bus / Kafka</a:t>
            </a:r>
          </a:p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Backend/API Layer: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 Controller Layer (Validates + JSON Schema Validation), Service Layer (Workflows, Ownership Checks, Timeouts), Notification Adaptor,                                       </a:t>
            </a:r>
          </a:p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Core Services: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 Notification Service, Consent and Privacy Service, Image Inspection Service, Knowledge Base Service, Audit and Compliance Logger, User Service, Fields Service, Service Mesh mTLS.</a:t>
            </a:r>
          </a:p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AI Agents: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 Vision , Climate , Advisory Agents</a:t>
            </a:r>
          </a:p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Presentation: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 CDN / Static Assets, Farmer Web - React, Inspector Web - React, Admin Console</a:t>
            </a:r>
          </a:p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Storage: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 External Weather API, Cache - Redis, Relational DB - PostgreSQL,Object Storage - Audit/Logs</a:t>
            </a:r>
          </a:p>
          <a:p>
            <a:pPr algn="l" marL="524034" indent="-262017" lvl="1">
              <a:lnSpc>
                <a:spcPts val="3446"/>
              </a:lnSpc>
              <a:buAutoNum type="arabicPeriod" startAt="1"/>
            </a:pPr>
            <a:r>
              <a:rPr lang="en-US" b="true" sz="2427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Edge &amp; Access:</a:t>
            </a:r>
            <a:r>
              <a:rPr lang="en-US" sz="2427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 API Gateway / Load Balancer,Auth / OIDC and SSO/Secure and Verify JWT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8972" y="6276661"/>
            <a:ext cx="2922218" cy="3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15202" y="8119620"/>
            <a:ext cx="1757372" cy="77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EDGE &amp; </a:t>
            </a:r>
          </a:p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ACCESS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02377" y="4455156"/>
            <a:ext cx="2385623" cy="3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206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AI AGENTS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26886" y="-639713"/>
            <a:ext cx="2711171" cy="3336826"/>
          </a:xfrm>
          <a:custGeom>
            <a:avLst/>
            <a:gdLst/>
            <a:ahLst/>
            <a:cxnLst/>
            <a:rect r="r" b="b" t="t" l="l"/>
            <a:pathLst>
              <a:path h="3336826" w="2711171">
                <a:moveTo>
                  <a:pt x="0" y="3336826"/>
                </a:moveTo>
                <a:lnTo>
                  <a:pt x="2711172" y="3336826"/>
                </a:lnTo>
                <a:lnTo>
                  <a:pt x="2711172" y="0"/>
                </a:lnTo>
                <a:lnTo>
                  <a:pt x="0" y="0"/>
                </a:lnTo>
                <a:lnTo>
                  <a:pt x="0" y="33368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09862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33432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343276" y="0"/>
                </a:lnTo>
                <a:lnTo>
                  <a:pt x="33432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3512" y="715805"/>
            <a:ext cx="12846351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NON-FUNCTIONAL REQUIREMENTS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092" y="1849342"/>
            <a:ext cx="14909628" cy="315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b="true" sz="2383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1.</a:t>
            </a:r>
            <a:r>
              <a:rPr lang="en-US" b="true" sz="2383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 The system should process and classify an uploaded image in less than 15sec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Vision Agent runs on GPU-optimized inst</a:t>
            </a:r>
            <a:r>
              <a:rPr lang="en-US" sz="2199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ances with PyTorch models pre-loaded in memory, eliminating initialization delays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Images upload directly to Object Storage via pre-signed URLs, bypassing API bottlenecks for faster processing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Redis caches recent predictions for common crops and diseases, enabling instant responses for repeated queries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SLA Guardrail monitors inference latency and triggers Kubernetes autoscaling when processing time approaches threshold</a:t>
            </a:r>
          </a:p>
          <a:p>
            <a:pPr algn="l">
              <a:lnSpc>
                <a:spcPts val="311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19617" y="4674129"/>
            <a:ext cx="14099591" cy="327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2.</a:t>
            </a:r>
            <a:r>
              <a:rPr lang="en-US" b="true" sz="2333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 The system should support at least 100 concurrent users</a:t>
            </a:r>
          </a:p>
          <a:p>
            <a:pPr algn="l" marL="503779" indent="-251890" lvl="1">
              <a:lnSpc>
                <a:spcPts val="3266"/>
              </a:lnSpc>
              <a:spcBef>
                <a:spcPct val="0"/>
              </a:spcBef>
              <a:buFont typeface="Arial"/>
              <a:buChar char="•"/>
            </a:pPr>
            <a:r>
              <a:rPr lang="en-US" sz="2333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API Gateway with Load Balancer distributes incoming requests across multiple stateless Kubernetes pods to handle high concurrent traffic</a:t>
            </a:r>
          </a:p>
          <a:p>
            <a:pPr algn="l" marL="503779" indent="-251890" lvl="1">
              <a:lnSpc>
                <a:spcPts val="3266"/>
              </a:lnSpc>
              <a:spcBef>
                <a:spcPct val="0"/>
              </a:spcBef>
              <a:buFont typeface="Arial"/>
              <a:buChar char="•"/>
            </a:pPr>
            <a:r>
              <a:rPr lang="en-US" sz="2333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Redis stores session dat</a:t>
            </a:r>
            <a:r>
              <a:rPr lang="en-US" sz="2333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a externally in a centralized cache, enabling any service instance to handle any user request without binding users to specific servers</a:t>
            </a:r>
          </a:p>
          <a:p>
            <a:pPr algn="l" marL="503779" indent="-251890" lvl="1">
              <a:lnSpc>
                <a:spcPts val="3266"/>
              </a:lnSpc>
              <a:spcBef>
                <a:spcPct val="0"/>
              </a:spcBef>
              <a:buFont typeface="Arial"/>
              <a:buChar char="•"/>
            </a:pPr>
            <a:r>
              <a:rPr lang="en-US" sz="2333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CDN caches static frontend assets at edge locations closer to users, offloading backend traffic and improving response times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10092" y="7697506"/>
            <a:ext cx="11861784" cy="245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3.</a:t>
            </a:r>
            <a:r>
              <a:rPr lang="en-US" b="true" sz="2333">
                <a:solidFill>
                  <a:srgbClr val="12372A"/>
                </a:solidFill>
                <a:latin typeface="Roboto Bold"/>
                <a:ea typeface="Roboto Bold"/>
                <a:cs typeface="Roboto Bold"/>
                <a:sym typeface="Roboto Bold"/>
              </a:rPr>
              <a:t> The system should provide clear error logs for troubleshooting</a:t>
            </a:r>
          </a:p>
          <a:p>
            <a:pPr algn="l" marL="503779" indent="-251890" lvl="1">
              <a:lnSpc>
                <a:spcPts val="3266"/>
              </a:lnSpc>
              <a:spcBef>
                <a:spcPct val="0"/>
              </a:spcBef>
              <a:buFont typeface="Arial"/>
              <a:buChar char="•"/>
            </a:pPr>
            <a:r>
              <a:rPr lang="en-US" sz="2333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All microservices emit structured JSON logs with standardized fields (timestamp, trace_id, error codes) for consistent troubleshooting</a:t>
            </a:r>
          </a:p>
          <a:p>
            <a:pPr algn="l" marL="503779" indent="-251890" lvl="1">
              <a:lnSpc>
                <a:spcPts val="3266"/>
              </a:lnSpc>
              <a:spcBef>
                <a:spcPct val="0"/>
              </a:spcBef>
              <a:buFont typeface="Arial"/>
              <a:buChar char="•"/>
            </a:pPr>
            <a:r>
              <a:rPr lang="en-US" sz="2333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</a:rPr>
              <a:t>Each request receives a unique tracking ID that follows it through all system components, making it easy to trace errors across services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350416" y="5620983"/>
            <a:ext cx="4937584" cy="4666017"/>
          </a:xfrm>
          <a:custGeom>
            <a:avLst/>
            <a:gdLst/>
            <a:ahLst/>
            <a:cxnLst/>
            <a:rect r="r" b="b" t="t" l="l"/>
            <a:pathLst>
              <a:path h="4666017" w="4937584">
                <a:moveTo>
                  <a:pt x="4937584" y="0"/>
                </a:moveTo>
                <a:lnTo>
                  <a:pt x="0" y="0"/>
                </a:lnTo>
                <a:lnTo>
                  <a:pt x="0" y="4666017"/>
                </a:lnTo>
                <a:lnTo>
                  <a:pt x="4937584" y="4666017"/>
                </a:lnTo>
                <a:lnTo>
                  <a:pt x="49375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65224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0" y="4114800"/>
                </a:moveTo>
                <a:lnTo>
                  <a:pt x="3343275" y="4114800"/>
                </a:lnTo>
                <a:lnTo>
                  <a:pt x="334327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09862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33432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343276" y="0"/>
                </a:lnTo>
                <a:lnTo>
                  <a:pt x="33432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3512" y="1069183"/>
            <a:ext cx="12846351" cy="91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SECURITY REQUIREMENTS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6500" y="2478845"/>
            <a:ext cx="5042871" cy="832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  <a:spcBef>
                <a:spcPct val="0"/>
              </a:spcBef>
            </a:pPr>
            <a:r>
              <a:rPr lang="en-US" b="true" sz="2330">
                <a:solidFill>
                  <a:srgbClr val="12372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1.B</a:t>
            </a:r>
            <a:r>
              <a:rPr lang="en-US" b="true" sz="2330">
                <a:solidFill>
                  <a:srgbClr val="12372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roken Access Control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Broken access control typically leads to unauthorized information disclosure, modification, or destruction of all data or performing a business function outside the user's limits.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Secure Login &amp; Role Access – Users authenticate via the web app; Auth Service verifies credentials and issues short-lived JWT tokens based on roles.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Controlled API Access – All requests go through the API Gateway with WAF and rate limiting; only authorized microservices inside the private VPC are accessible.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Protection &amp; Audit – Services revalidate ownership, encrypt traffic (HTTPS + mTLS), and log all actions for traceability and compliance.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3262"/>
              </a:lnSpc>
              <a:spcBef>
                <a:spcPct val="0"/>
              </a:spcBef>
            </a:pPr>
          </a:p>
          <a:p>
            <a:pPr algn="l">
              <a:lnSpc>
                <a:spcPts val="326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733299" y="2478845"/>
            <a:ext cx="6071958" cy="724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12372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3.Data</a:t>
            </a:r>
            <a:r>
              <a:rPr lang="en-US" b="true" sz="2333">
                <a:solidFill>
                  <a:srgbClr val="12372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Poisoning (tainted inputs into diagnosis/training)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Malicious or low-quality data can corrupt model training or skew diagnosis, harming recommendations and trust.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Secure &amp; Verified Data Pipeline – All uploads go through the Ingestion Service for format, quality, and anomaly checks; suspicious files are quarantined before storage.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Controlled Model Lifecycle – Models come only from the signed, versioned Model Registry; training uses approved datasets with provenance and integrity validation.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Safe Deployment &amp; Monitoring – New models are canary-deployed, monitored for drift and KPIs; auto-rollback ensures stability; every action is logged and auditable.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</a:p>
          <a:p>
            <a:pPr algn="ctr">
              <a:lnSpc>
                <a:spcPts val="326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54701" y="2478845"/>
            <a:ext cx="5178598" cy="761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12372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2.Inj</a:t>
            </a:r>
            <a:r>
              <a:rPr lang="en-US" b="true" sz="2333">
                <a:solidFill>
                  <a:srgbClr val="12372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ection Attacks (SQL injection, file/command injection)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Untrusted input can alter queries or invoke unintended commands, leading to data compromise or remote execution.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Request &amp; Input Validation – API Gateway enforces OpenAPI/JSON-Schema validation; all inputs sanitized before reaching microservices.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Safe Data &amp; File Handling – Services use ORM and least-privilege DB access; uploads scanned, validated, and stored securely via pre-signed URLs.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12372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Secure Execution &amp; Communication – Tasks run in sandboxed containers; no direct shell access; errors sanitized; all traffic encrypted end-to-end (HTTPS + mTLS).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</a:p>
          <a:p>
            <a:pPr algn="ctr">
              <a:lnSpc>
                <a:spcPts val="3266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5037715" y="7626344"/>
            <a:ext cx="3453876" cy="3263912"/>
          </a:xfrm>
          <a:custGeom>
            <a:avLst/>
            <a:gdLst/>
            <a:ahLst/>
            <a:cxnLst/>
            <a:rect r="r" b="b" t="t" l="l"/>
            <a:pathLst>
              <a:path h="3263912" w="3453876">
                <a:moveTo>
                  <a:pt x="3453876" y="0"/>
                </a:moveTo>
                <a:lnTo>
                  <a:pt x="0" y="0"/>
                </a:lnTo>
                <a:lnTo>
                  <a:pt x="0" y="3263912"/>
                </a:lnTo>
                <a:lnTo>
                  <a:pt x="3453876" y="3263912"/>
                </a:lnTo>
                <a:lnTo>
                  <a:pt x="34538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65137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0" y="4114800"/>
                </a:moveTo>
                <a:lnTo>
                  <a:pt x="3343275" y="4114800"/>
                </a:lnTo>
                <a:lnTo>
                  <a:pt x="334327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09862" y="-835817"/>
            <a:ext cx="3343275" cy="4114800"/>
          </a:xfrm>
          <a:custGeom>
            <a:avLst/>
            <a:gdLst/>
            <a:ahLst/>
            <a:cxnLst/>
            <a:rect r="r" b="b" t="t" l="l"/>
            <a:pathLst>
              <a:path h="4114800" w="3343275">
                <a:moveTo>
                  <a:pt x="334327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343276" y="0"/>
                </a:lnTo>
                <a:lnTo>
                  <a:pt x="334327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23088"/>
            <a:ext cx="3453876" cy="3263912"/>
          </a:xfrm>
          <a:custGeom>
            <a:avLst/>
            <a:gdLst/>
            <a:ahLst/>
            <a:cxnLst/>
            <a:rect r="r" b="b" t="t" l="l"/>
            <a:pathLst>
              <a:path h="3263912" w="3453876">
                <a:moveTo>
                  <a:pt x="0" y="0"/>
                </a:moveTo>
                <a:lnTo>
                  <a:pt x="3453876" y="0"/>
                </a:lnTo>
                <a:lnTo>
                  <a:pt x="3453876" y="3263912"/>
                </a:lnTo>
                <a:lnTo>
                  <a:pt x="0" y="3263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834124" y="7023088"/>
            <a:ext cx="3453876" cy="3263912"/>
          </a:xfrm>
          <a:custGeom>
            <a:avLst/>
            <a:gdLst/>
            <a:ahLst/>
            <a:cxnLst/>
            <a:rect r="r" b="b" t="t" l="l"/>
            <a:pathLst>
              <a:path h="3263912" w="3453876">
                <a:moveTo>
                  <a:pt x="3453876" y="0"/>
                </a:moveTo>
                <a:lnTo>
                  <a:pt x="0" y="0"/>
                </a:lnTo>
                <a:lnTo>
                  <a:pt x="0" y="3263912"/>
                </a:lnTo>
                <a:lnTo>
                  <a:pt x="3453876" y="3263912"/>
                </a:lnTo>
                <a:lnTo>
                  <a:pt x="34538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63512" y="2831115"/>
            <a:ext cx="12846351" cy="126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57"/>
              </a:lnSpc>
              <a:spcBef>
                <a:spcPct val="0"/>
              </a:spcBef>
            </a:pPr>
            <a:r>
              <a:rPr lang="en-US" sz="7041">
                <a:solidFill>
                  <a:srgbClr val="12372A"/>
                </a:solidFill>
                <a:latin typeface="Brasika"/>
                <a:ea typeface="Brasika"/>
                <a:cs typeface="Brasika"/>
                <a:sym typeface="Brasika"/>
              </a:rPr>
              <a:t>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0825" y="4443169"/>
            <a:ext cx="12531725" cy="178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6"/>
              </a:lnSpc>
              <a:spcBef>
                <a:spcPct val="0"/>
              </a:spcBef>
            </a:pPr>
            <a:r>
              <a:rPr lang="en-US" sz="5133" u="sng">
                <a:solidFill>
                  <a:srgbClr val="12372A"/>
                </a:solidFill>
                <a:latin typeface="Roboto"/>
                <a:ea typeface="Roboto"/>
                <a:cs typeface="Roboto"/>
                <a:sym typeface="Roboto"/>
                <a:hlinkClick r:id="rId6" tooltip="https://sproj-p08-p580fwf0n-zarakqadirkhans-projects.vercel.app"/>
              </a:rPr>
              <a:t>https://sproj-p08-p580fwf0n-zarakqadirkhans-projects.vercel.app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DAG1XnwfDAg</dc:identifier>
  <dcterms:modified xsi:type="dcterms:W3CDTF">2011-08-01T06:04:30Z</dcterms:modified>
  <cp:revision>1</cp:revision>
  <dc:title>p08_highlevel architecture</dc:title>
</cp:coreProperties>
</file>